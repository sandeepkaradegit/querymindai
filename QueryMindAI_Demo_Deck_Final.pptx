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f090b5f-9b6e-dca8-9aa5-4a9412e206ef}">
          <p14:sldIdLst>
            <p14:sldId id="256"/>
            <p14:sldId id="257"/>
            <p14:sldId id="258"/>
          </p14:sldIdLst>
        </p14:section>
        <p14:section name="Architecture" id="{0f73e055-5016-6e97-9f6d-172b3531fdad}">
          <p14:sldIdLst>
            <p14:sldId id="259"/>
            <p14:sldId id="260"/>
            <p14:sldId id="261"/>
            <p14:sldId id="262"/>
          </p14:sldIdLst>
        </p14:section>
        <p14:section name="Admin Console" id="{4dec2a83-f9e0-f8c0-e48c-de23d44eca3f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Live Demo" id="{25679ead-0643-1110-2030-5b0e4726d7b5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Evaluation" id="{f256715e-3c9c-d62e-53a7-461f59b28248}">
          <p14:sldIdLst>
            <p14:sldId id="281"/>
            <p14:sldId id="282"/>
            <p14:sldId id="283"/>
          </p14:sldIdLst>
        </p14:section>
        <p14:section name="Wrap-up" id="{7a0b102d-7680-a3c6-349f-b44f537f56cf}">
          <p14:sldIdLst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QueryMind AI  |  Capstone Demo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QueryMind AI — Capstone Submission Demo</a:t>
            </a:r>
            <a:endParaRPr lang="en-US" sz="40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33832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Presenter: Sandip Karade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Text-to-SQL analytics with safety-first execution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Repository: https://github.com/sandeepkaradegit/QueryMindAI.git</a:t>
            </a:r>
            <a:endParaRPr lang="en-US" sz="1800" dirty="0"/>
          </a:p>
        </p:txBody>
      </p:sp>
      <p:sp>
        <p:nvSpPr>
          <p:cNvPr id="4" name="Target pill"/>
          <p:cNvSpPr/>
          <p:nvPr/>
        </p:nvSpPr>
        <p:spPr>
          <a:xfrm>
            <a:off x="731520" y="5394960"/>
            <a:ext cx="420624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394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Demo length target: 5–10 minutes</a:t>
            </a:r>
            <a:endParaRPr lang="en-US" sz="1500" dirty="0"/>
          </a:p>
        </p:txBody>
      </p:sp>
      <p:sp>
        <p:nvSpPr>
          <p:cNvPr id="6" name="Flow tile 1"/>
          <p:cNvSpPr/>
          <p:nvPr/>
        </p:nvSpPr>
        <p:spPr>
          <a:xfrm>
            <a:off x="8138160" y="1371600"/>
            <a:ext cx="338328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66760" y="137160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Ask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 plain English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509760" y="2487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▼</a:t>
            </a:r>
            <a:endParaRPr lang="en-US" sz="1200" dirty="0"/>
          </a:p>
        </p:txBody>
      </p:sp>
      <p:sp>
        <p:nvSpPr>
          <p:cNvPr id="9" name="Flow tile 2"/>
          <p:cNvSpPr/>
          <p:nvPr/>
        </p:nvSpPr>
        <p:spPr>
          <a:xfrm>
            <a:off x="8138160" y="2788920"/>
            <a:ext cx="338328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66760" y="27889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Generate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safe, read-only SQL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3904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Flow tile 3"/>
          <p:cNvSpPr/>
          <p:nvPr/>
        </p:nvSpPr>
        <p:spPr>
          <a:xfrm>
            <a:off x="8138160" y="4206240"/>
            <a:ext cx="338328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42062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Answer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chart + table + summary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5431536" cy="166878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/>
        </p:spPr>
      </p:sp>
      <p:sp>
        <p:nvSpPr>
          <p:cNvPr id="4" name="Card number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ard text 1"/>
          <p:cNvSpPr txBox="1"/>
          <p:nvPr/>
        </p:nvSpPr>
        <p:spPr>
          <a:xfrm>
            <a:off x="1417320" y="1554480"/>
            <a:ext cx="4379976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Problem and solution overview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users need and how QueryMind answers it</a:t>
            </a:r>
            <a:endParaRPr lang="en-US" sz="2000" dirty="0"/>
          </a:p>
        </p:txBody>
      </p:sp>
      <p:sp>
        <p:nvSpPr>
          <p:cNvPr id="7" name="Card 2"/>
          <p:cNvSpPr/>
          <p:nvPr/>
        </p:nvSpPr>
        <p:spPr>
          <a:xfrm>
            <a:off x="6208776" y="1371600"/>
            <a:ext cx="5431536" cy="166878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/>
        </p:spPr>
      </p:sp>
      <p:sp>
        <p:nvSpPr>
          <p:cNvPr id="8" name="Card number 2"/>
          <p:cNvSpPr/>
          <p:nvPr/>
        </p:nvSpPr>
        <p:spPr>
          <a:xfrm>
            <a:off x="6437376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3737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Card text 2"/>
          <p:cNvSpPr txBox="1"/>
          <p:nvPr/>
        </p:nvSpPr>
        <p:spPr>
          <a:xfrm>
            <a:off x="7077456" y="1554480"/>
            <a:ext cx="4379976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Architecture and safety controls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Pipeline, guardrails and admin console</a:t>
            </a:r>
            <a:endParaRPr lang="en-US" sz="2000" dirty="0"/>
          </a:p>
        </p:txBody>
      </p:sp>
      <p:sp>
        <p:nvSpPr>
          <p:cNvPr id="11" name="Card 3"/>
          <p:cNvSpPr/>
          <p:nvPr/>
        </p:nvSpPr>
        <p:spPr>
          <a:xfrm>
            <a:off x="548640" y="3268980"/>
            <a:ext cx="5431536" cy="166878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/>
        </p:spPr>
      </p:sp>
      <p:sp>
        <p:nvSpPr>
          <p:cNvPr id="12" name="Card number 3"/>
          <p:cNvSpPr/>
          <p:nvPr/>
        </p:nvSpPr>
        <p:spPr>
          <a:xfrm>
            <a:off x="777240" y="34975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4975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Card text 3"/>
          <p:cNvSpPr txBox="1"/>
          <p:nvPr/>
        </p:nvSpPr>
        <p:spPr>
          <a:xfrm>
            <a:off x="1417320" y="3451860"/>
            <a:ext cx="4379976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Live demo flow with screenshots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Ten steps: queries, guardrails, PII check, follow-ups, script runner</a:t>
            </a:r>
            <a:endParaRPr lang="en-US" sz="2000" dirty="0"/>
          </a:p>
        </p:txBody>
      </p:sp>
      <p:sp>
        <p:nvSpPr>
          <p:cNvPr id="15" name="Card 4"/>
          <p:cNvSpPr/>
          <p:nvPr/>
        </p:nvSpPr>
        <p:spPr>
          <a:xfrm>
            <a:off x="6208776" y="3268980"/>
            <a:ext cx="5431536" cy="166878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/>
        </p:spPr>
      </p:sp>
      <p:sp>
        <p:nvSpPr>
          <p:cNvPr id="16" name="Card number 4"/>
          <p:cNvSpPr/>
          <p:nvPr/>
        </p:nvSpPr>
        <p:spPr>
          <a:xfrm>
            <a:off x="6437376" y="34975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37376" y="34975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Card text 4"/>
          <p:cNvSpPr txBox="1"/>
          <p:nvPr/>
        </p:nvSpPr>
        <p:spPr>
          <a:xfrm>
            <a:off x="7077456" y="3451860"/>
            <a:ext cx="4379976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Evaluation evidence and final checklist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Offline vs live results, limitations, submission status</a:t>
            </a:r>
            <a:endParaRPr lang="en-US" sz="2000" dirty="0"/>
          </a:p>
        </p:txBody>
      </p:sp>
      <p:sp>
        <p:nvSpPr>
          <p:cNvPr id="19" name="Highlight banner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20" name="Highlight text"/>
          <p:cNvSpPr txBox="1"/>
          <p:nvPr/>
        </p:nvSpPr>
        <p:spPr>
          <a:xfrm>
            <a:off x="777240" y="53949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Follow this exact order during presentation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3544824" cy="3566160"/>
          </a:xfrm>
          <a:prstGeom prst="roundRect">
            <a:avLst>
              <a:gd name="adj" fmla="val 3095"/>
            </a:avLst>
          </a:prstGeom>
          <a:solidFill>
            <a:schemeClr val="bg2"/>
          </a:solidFill>
          <a:ln/>
        </p:spPr>
      </p:sp>
      <p:sp>
        <p:nvSpPr>
          <p:cNvPr id="4" name="Card number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ard text 1"/>
          <p:cNvSpPr txBox="1"/>
          <p:nvPr/>
        </p:nvSpPr>
        <p:spPr>
          <a:xfrm>
            <a:off x="1417320" y="1554480"/>
            <a:ext cx="2493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Natural-language questions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Business users ask analytics questions in plain language, not SQL.</a:t>
            </a:r>
            <a:endParaRPr lang="en-US" sz="2000" dirty="0"/>
          </a:p>
        </p:txBody>
      </p:sp>
      <p:sp>
        <p:nvSpPr>
          <p:cNvPr id="7" name="Card 2"/>
          <p:cNvSpPr/>
          <p:nvPr/>
        </p:nvSpPr>
        <p:spPr>
          <a:xfrm>
            <a:off x="4322064" y="1371600"/>
            <a:ext cx="3544824" cy="3566160"/>
          </a:xfrm>
          <a:prstGeom prst="roundRect">
            <a:avLst>
              <a:gd name="adj" fmla="val 3095"/>
            </a:avLst>
          </a:prstGeom>
          <a:solidFill>
            <a:schemeClr val="bg2"/>
          </a:solidFill>
          <a:ln/>
        </p:spPr>
      </p:sp>
      <p:sp>
        <p:nvSpPr>
          <p:cNvPr id="8" name="Card number 2"/>
          <p:cNvSpPr/>
          <p:nvPr/>
        </p:nvSpPr>
        <p:spPr>
          <a:xfrm>
            <a:off x="4550664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066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Card text 2"/>
          <p:cNvSpPr txBox="1"/>
          <p:nvPr/>
        </p:nvSpPr>
        <p:spPr>
          <a:xfrm>
            <a:off x="5190744" y="1554480"/>
            <a:ext cx="2493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Valid, read-only SQL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system must produce correct SQL and execute it safely.</a:t>
            </a:r>
            <a:endParaRPr lang="en-US" sz="2000" dirty="0"/>
          </a:p>
        </p:txBody>
      </p:sp>
      <p:sp>
        <p:nvSpPr>
          <p:cNvPr id="11" name="Card 3"/>
          <p:cNvSpPr/>
          <p:nvPr/>
        </p:nvSpPr>
        <p:spPr>
          <a:xfrm>
            <a:off x="8095488" y="1371600"/>
            <a:ext cx="3544824" cy="3566160"/>
          </a:xfrm>
          <a:prstGeom prst="roundRect">
            <a:avLst>
              <a:gd name="adj" fmla="val 3095"/>
            </a:avLst>
          </a:prstGeom>
          <a:solidFill>
            <a:schemeClr val="bg2"/>
          </a:solidFill>
          <a:ln/>
        </p:spPr>
      </p:sp>
      <p:sp>
        <p:nvSpPr>
          <p:cNvPr id="12" name="Card number 3"/>
          <p:cNvSpPr/>
          <p:nvPr/>
        </p:nvSpPr>
        <p:spPr>
          <a:xfrm>
            <a:off x="832408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408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Card text 3"/>
          <p:cNvSpPr txBox="1"/>
          <p:nvPr/>
        </p:nvSpPr>
        <p:spPr>
          <a:xfrm>
            <a:off x="8964168" y="1554480"/>
            <a:ext cx="2493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Understandable results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Answers must make sense to non-SQL users: charts, tables, summaries.</a:t>
            </a:r>
            <a:endParaRPr lang="en-US" sz="2000" dirty="0"/>
          </a:p>
        </p:txBody>
      </p:sp>
      <p:sp>
        <p:nvSpPr>
          <p:cNvPr id="15" name="Highlight banner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6" name="Highlight text"/>
          <p:cNvSpPr txBox="1"/>
          <p:nvPr/>
        </p:nvSpPr>
        <p:spPr>
          <a:xfrm>
            <a:off x="777240" y="53949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Accuracy + safety + usability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Solution Overview</a:t>
            </a:r>
            <a:endParaRPr lang="en-US" sz="2800" dirty="0"/>
          </a:p>
        </p:txBody>
      </p:sp>
      <p:sp>
        <p:nvSpPr>
          <p:cNvPr id="3" name="Solution Overview frame"/>
          <p:cNvSpPr/>
          <p:nvPr/>
        </p:nvSpPr>
        <p:spPr>
          <a:xfrm>
            <a:off x="512064" y="1612502"/>
            <a:ext cx="7616952" cy="43187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Solution Overview" descr="Solution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9078"/>
            <a:ext cx="7543800" cy="4245643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HOW IT FITS TOGETHER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Frontend: Next.js query chat plus the admin console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Backend: FastAPI with a modular Text-to-SQL pipeline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 and config stores: primary DB, admin metadata DB, example library, evaluation dataset and reports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Safety and governance wrap the whole pipeline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End-to-end architecture is reproducible and testable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Core Architecture</a:t>
            </a:r>
            <a:endParaRPr lang="en-US" sz="2800" dirty="0"/>
          </a:p>
        </p:txBody>
      </p:sp>
      <p:sp>
        <p:nvSpPr>
          <p:cNvPr id="3" name="Core Architecture frame"/>
          <p:cNvSpPr/>
          <p:nvPr/>
        </p:nvSpPr>
        <p:spPr>
          <a:xfrm>
            <a:off x="512064" y="1612502"/>
            <a:ext cx="7616952" cy="43187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Core Architecture" descr="Core 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9078"/>
            <a:ext cx="7543800" cy="4245643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REQUEST FLOW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User/UI → API → Pipeline → Database → formatted response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Safety gates run before and after SQL generation: SELECT-only, multi-statement and destructive-SQL blocks, fail-closed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stage is traced and logged (latency, status, trace id)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Latest evaluation snapshot shown at right of diagram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Safety checks sit on both sides of generation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Pipeline Sequence (Inside Backend)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548640" y="1280160"/>
            <a:ext cx="3544824" cy="185166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" name="Card number 1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ard text 1"/>
          <p:cNvSpPr txBox="1"/>
          <p:nvPr/>
        </p:nvSpPr>
        <p:spPr>
          <a:xfrm>
            <a:off x="1417320" y="1463040"/>
            <a:ext cx="2493264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Classify question intent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Simple, aggregate, join or temporal</a:t>
            </a:r>
            <a:endParaRPr lang="en-US" sz="2000" dirty="0"/>
          </a:p>
        </p:txBody>
      </p:sp>
      <p:sp>
        <p:nvSpPr>
          <p:cNvPr id="7" name="Card 2"/>
          <p:cNvSpPr/>
          <p:nvPr/>
        </p:nvSpPr>
        <p:spPr>
          <a:xfrm>
            <a:off x="4322064" y="1280160"/>
            <a:ext cx="3544824" cy="185166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8" name="Card number 2"/>
          <p:cNvSpPr/>
          <p:nvPr/>
        </p:nvSpPr>
        <p:spPr>
          <a:xfrm>
            <a:off x="4550664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0664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Card text 2"/>
          <p:cNvSpPr txBox="1"/>
          <p:nvPr/>
        </p:nvSpPr>
        <p:spPr>
          <a:xfrm>
            <a:off x="5190744" y="1463040"/>
            <a:ext cx="2493264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Link schema terms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Map words in the question to tables and columns</a:t>
            </a:r>
            <a:endParaRPr lang="en-US" sz="2000" dirty="0"/>
          </a:p>
        </p:txBody>
      </p:sp>
      <p:sp>
        <p:nvSpPr>
          <p:cNvPr id="11" name="Card 3"/>
          <p:cNvSpPr/>
          <p:nvPr/>
        </p:nvSpPr>
        <p:spPr>
          <a:xfrm>
            <a:off x="8095488" y="1280160"/>
            <a:ext cx="3544824" cy="185166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2" name="Card number 3"/>
          <p:cNvSpPr/>
          <p:nvPr/>
        </p:nvSpPr>
        <p:spPr>
          <a:xfrm>
            <a:off x="8324088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408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Card text 3"/>
          <p:cNvSpPr txBox="1"/>
          <p:nvPr/>
        </p:nvSpPr>
        <p:spPr>
          <a:xfrm>
            <a:off x="8964168" y="1463040"/>
            <a:ext cx="2493264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Retrieve / rerank examples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Pick the closest question-to-SQL examples</a:t>
            </a:r>
            <a:endParaRPr lang="en-US" sz="2000" dirty="0"/>
          </a:p>
        </p:txBody>
      </p:sp>
      <p:sp>
        <p:nvSpPr>
          <p:cNvPr id="15" name="Card 4"/>
          <p:cNvSpPr/>
          <p:nvPr/>
        </p:nvSpPr>
        <p:spPr>
          <a:xfrm>
            <a:off x="548640" y="3360420"/>
            <a:ext cx="3544824" cy="185166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6" name="Card number 4"/>
          <p:cNvSpPr/>
          <p:nvPr/>
        </p:nvSpPr>
        <p:spPr>
          <a:xfrm>
            <a:off x="777240" y="35890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Card text 4"/>
          <p:cNvSpPr txBox="1"/>
          <p:nvPr/>
        </p:nvSpPr>
        <p:spPr>
          <a:xfrm>
            <a:off x="1417320" y="3543300"/>
            <a:ext cx="2493264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Generate SQL with provider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Groq, OpenAI, Anthropic or Ollama</a:t>
            </a:r>
            <a:endParaRPr lang="en-US" sz="2000" dirty="0"/>
          </a:p>
        </p:txBody>
      </p:sp>
      <p:sp>
        <p:nvSpPr>
          <p:cNvPr id="19" name="Card 5"/>
          <p:cNvSpPr/>
          <p:nvPr/>
        </p:nvSpPr>
        <p:spPr>
          <a:xfrm>
            <a:off x="4322064" y="3360420"/>
            <a:ext cx="3544824" cy="185166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0" name="Card number 5"/>
          <p:cNvSpPr/>
          <p:nvPr/>
        </p:nvSpPr>
        <p:spPr>
          <a:xfrm>
            <a:off x="4550664" y="35890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50664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Card text 5"/>
          <p:cNvSpPr txBox="1"/>
          <p:nvPr/>
        </p:nvSpPr>
        <p:spPr>
          <a:xfrm>
            <a:off x="5190744" y="3543300"/>
            <a:ext cx="2493264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Guardrail validation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Read-only, allowed tables, row-limit clamping</a:t>
            </a:r>
            <a:endParaRPr lang="en-US" sz="2000" dirty="0"/>
          </a:p>
        </p:txBody>
      </p:sp>
      <p:sp>
        <p:nvSpPr>
          <p:cNvPr id="23" name="Card 6"/>
          <p:cNvSpPr/>
          <p:nvPr/>
        </p:nvSpPr>
        <p:spPr>
          <a:xfrm>
            <a:off x="8095488" y="3360420"/>
            <a:ext cx="3544824" cy="185166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4" name="Card number 6"/>
          <p:cNvSpPr/>
          <p:nvPr/>
        </p:nvSpPr>
        <p:spPr>
          <a:xfrm>
            <a:off x="8324088" y="35890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24088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Card text 6"/>
          <p:cNvSpPr txBox="1"/>
          <p:nvPr/>
        </p:nvSpPr>
        <p:spPr>
          <a:xfrm>
            <a:off x="8964168" y="3543300"/>
            <a:ext cx="2493264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Safe execution + result summary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Timeout-bounded run, then chart, table and summary</a:t>
            </a:r>
            <a:endParaRPr lang="en-US" sz="2000" dirty="0"/>
          </a:p>
        </p:txBody>
      </p:sp>
      <p:sp>
        <p:nvSpPr>
          <p:cNvPr id="27" name="Highlight banner"/>
          <p:cNvSpPr/>
          <p:nvPr/>
        </p:nvSpPr>
        <p:spPr>
          <a:xfrm>
            <a:off x="548640" y="5486400"/>
            <a:ext cx="11091672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28" name="Highlight text"/>
          <p:cNvSpPr txBox="1"/>
          <p:nvPr/>
        </p:nvSpPr>
        <p:spPr>
          <a:xfrm>
            <a:off x="777240" y="54864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Single source of truth: schema + guardrails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Model &amp; Seeded Dataset</a:t>
            </a:r>
            <a:endParaRPr lang="en-US" sz="2800" dirty="0"/>
          </a:p>
        </p:txBody>
      </p:sp>
      <p:sp>
        <p:nvSpPr>
          <p:cNvPr id="3" name="Data Model &amp; Seeded Dataset frame"/>
          <p:cNvSpPr/>
          <p:nvPr/>
        </p:nvSpPr>
        <p:spPr>
          <a:xfrm>
            <a:off x="512064" y="1960666"/>
            <a:ext cx="7616952" cy="3622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Data Model &amp; Seeded Dataset" descr="Data Model &amp; Seeded Data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97242"/>
            <a:ext cx="7543800" cy="3549316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DATA DICTIONARY (data_dictionary.md)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SQLite demo DB, generated locally with a fixed random seed, so every run is identical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7 related tables: categories, customers, products, orders, order_items, payments, shipments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1,000+ rows per primary table; orders span 2024-01 to 2026-06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Money stored as integer cents; explicit metric definitions (gross revenue vs net collected)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Designed to test ambiguity and analytics complexity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Admin Console Overview</a:t>
            </a:r>
            <a:endParaRPr lang="en-US" sz="2800" dirty="0"/>
          </a:p>
        </p:txBody>
      </p:sp>
      <p:sp>
        <p:nvSpPr>
          <p:cNvPr id="3" name="Tile Schema Manager"/>
          <p:cNvSpPr/>
          <p:nvPr/>
        </p:nvSpPr>
        <p:spPr>
          <a:xfrm>
            <a:off x="548640" y="1188720"/>
            <a:ext cx="3544824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pic>
        <p:nvPicPr>
          <p:cNvPr id="4" name="Schema Manager screenshot" descr="Schema Mana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373" y="1298448"/>
            <a:ext cx="1531358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2816352"/>
            <a:ext cx="3270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 Schema Manager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Describe tables and columns, add synonyms, normalize values</a:t>
            </a:r>
            <a:endParaRPr lang="en-US" sz="1400" dirty="0"/>
          </a:p>
        </p:txBody>
      </p:sp>
      <p:sp>
        <p:nvSpPr>
          <p:cNvPr id="6" name="Tile Examples Manager"/>
          <p:cNvSpPr/>
          <p:nvPr/>
        </p:nvSpPr>
        <p:spPr>
          <a:xfrm>
            <a:off x="4322064" y="1188720"/>
            <a:ext cx="3544824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pic>
        <p:nvPicPr>
          <p:cNvPr id="7" name="Examples Manager screenshot" descr="Examples Manag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516" y="1298448"/>
            <a:ext cx="2045919" cy="1463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59224" y="2816352"/>
            <a:ext cx="3270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2. Examples Manager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Curate question-to-SQL examples used for retrieval</a:t>
            </a:r>
            <a:endParaRPr lang="en-US" sz="1400" dirty="0"/>
          </a:p>
        </p:txBody>
      </p:sp>
      <p:sp>
        <p:nvSpPr>
          <p:cNvPr id="9" name="Tile Query Logs"/>
          <p:cNvSpPr/>
          <p:nvPr/>
        </p:nvSpPr>
        <p:spPr>
          <a:xfrm>
            <a:off x="8095488" y="1188720"/>
            <a:ext cx="3544824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pic>
        <p:nvPicPr>
          <p:cNvPr id="10" name="Query Logs screenshot" descr="Query L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832" y="1298448"/>
            <a:ext cx="2134136" cy="1463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232648" y="2816352"/>
            <a:ext cx="3270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3. Query Logs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Audit every question, generated SQL and status</a:t>
            </a:r>
            <a:endParaRPr lang="en-US" sz="1400" dirty="0"/>
          </a:p>
        </p:txBody>
      </p:sp>
      <p:sp>
        <p:nvSpPr>
          <p:cNvPr id="12" name="Tile Guardrails Config"/>
          <p:cNvSpPr/>
          <p:nvPr/>
        </p:nvSpPr>
        <p:spPr>
          <a:xfrm>
            <a:off x="548640" y="3749040"/>
            <a:ext cx="3544824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pic>
        <p:nvPicPr>
          <p:cNvPr id="13" name="Guardrails Config screenshot" descr="Guardrails Confi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58804"/>
            <a:ext cx="3325368" cy="12629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800" y="5376672"/>
            <a:ext cx="3270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4. Guardrails Config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Row limit and allowed tables; destructive SQL always blocked</a:t>
            </a:r>
            <a:endParaRPr lang="en-US" sz="1400" dirty="0"/>
          </a:p>
        </p:txBody>
      </p:sp>
      <p:sp>
        <p:nvSpPr>
          <p:cNvPr id="15" name="Tile Model Config"/>
          <p:cNvSpPr/>
          <p:nvPr/>
        </p:nvSpPr>
        <p:spPr>
          <a:xfrm>
            <a:off x="4322064" y="3749040"/>
            <a:ext cx="3544824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pic>
        <p:nvPicPr>
          <p:cNvPr id="16" name="Model Config screenshot" descr="Model Confi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920" y="3858768"/>
            <a:ext cx="1591113" cy="14630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459224" y="5376672"/>
            <a:ext cx="3270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5. Model Config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Choose LLM provider, tune settings, manage DB connections</a:t>
            </a:r>
            <a:endParaRPr lang="en-US" sz="1400" dirty="0"/>
          </a:p>
        </p:txBody>
      </p:sp>
      <p:sp>
        <p:nvSpPr>
          <p:cNvPr id="18" name="Tile Script Runner"/>
          <p:cNvSpPr/>
          <p:nvPr/>
        </p:nvSpPr>
        <p:spPr>
          <a:xfrm>
            <a:off x="8095488" y="3749040"/>
            <a:ext cx="3544824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pic>
        <p:nvPicPr>
          <p:cNvPr id="19" name="Script Runner screenshot" descr="Script Runn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175" y="3858768"/>
            <a:ext cx="2143449" cy="146304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232648" y="5376672"/>
            <a:ext cx="3270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6. Script Runner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seed, evaluation and validation scripts from the UI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Admin Console — Schema Manager</a:t>
            </a:r>
            <a:endParaRPr lang="en-US" sz="2800" dirty="0"/>
          </a:p>
        </p:txBody>
      </p:sp>
      <p:sp>
        <p:nvSpPr>
          <p:cNvPr id="3" name="Admin Console — Schema Manager frame"/>
          <p:cNvSpPr/>
          <p:nvPr/>
        </p:nvSpPr>
        <p:spPr>
          <a:xfrm>
            <a:off x="512064" y="1197864"/>
            <a:ext cx="5385051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Admin Console — Schema Manager" descr="Admin Console — Schema Mana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311899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Pick a table from the left list (categories, customers, orders, payments, products…)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Edit the table description and synonyms the model uses for schema linking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Per-column type, description, synonyms and a Sensitive flag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Value Normalization Rules map user wording to canonical values (e.g. “america” → US)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Teaches the model what your schema means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Admin Console — Examples Manager</a:t>
            </a:r>
            <a:endParaRPr lang="en-US" sz="2800" dirty="0"/>
          </a:p>
        </p:txBody>
      </p:sp>
      <p:sp>
        <p:nvSpPr>
          <p:cNvPr id="3" name="Admin Console — Examples Manager frame"/>
          <p:cNvSpPr/>
          <p:nvPr/>
        </p:nvSpPr>
        <p:spPr>
          <a:xfrm>
            <a:off x="512064" y="1197864"/>
            <a:ext cx="7169935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Admin Console — Examples Manager" descr="Admin Console — Examples Mana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096783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“Add example” form: question, SQL and query type (e.g. SELECT_SIMPLE)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Table of existing question-to-SQL pairs with search and query-type filter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Edit or delete examples to correct retrieval behaviour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 curated example library improves SQL generation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Admin Console — Query Logs</a:t>
            </a:r>
            <a:endParaRPr lang="en-US" sz="2800" dirty="0"/>
          </a:p>
        </p:txBody>
      </p:sp>
      <p:sp>
        <p:nvSpPr>
          <p:cNvPr id="3" name="Admin Console — Query Logs frame"/>
          <p:cNvSpPr/>
          <p:nvPr/>
        </p:nvSpPr>
        <p:spPr>
          <a:xfrm>
            <a:off x="512064" y="1197864"/>
            <a:ext cx="7475935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Admin Console — Query Logs" descr="Admin Console — Query L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2783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row: timestamp, status, the user’s question and the generated SQL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Filter by status or search by question text; Refresh and Export CSV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Blocked and failed requests appear alongside successful ones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Full audit trail of what was asked and what ran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Admin Console — Guardrails Config</a:t>
            </a:r>
            <a:endParaRPr lang="en-US" sz="2800" dirty="0"/>
          </a:p>
        </p:txBody>
      </p:sp>
      <p:sp>
        <p:nvSpPr>
          <p:cNvPr id="3" name="Admin Console — Guardrails Config frame"/>
          <p:cNvSpPr/>
          <p:nvPr/>
        </p:nvSpPr>
        <p:spPr>
          <a:xfrm>
            <a:off x="512064" y="2302764"/>
            <a:ext cx="7616952" cy="29382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Admin Console — Guardrails Config" descr="Admin Console — Guardrails Conf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9340"/>
            <a:ext cx="7543800" cy="28651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Maximum rows returned (1–1000); set to 100 here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Allowed table prefixes (comma-separated; empty = all tables)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Destructive SQL (DROP, DELETE, UPDATE, INSERT, TRUNCATE, ALTER) is always blocked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Read-only enforcement is a fixed boundary, not a toggle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Admin Console — Model Config</a:t>
            </a:r>
            <a:endParaRPr lang="en-US" sz="2800" dirty="0"/>
          </a:p>
        </p:txBody>
      </p:sp>
      <p:sp>
        <p:nvSpPr>
          <p:cNvPr id="3" name="Admin Console — Model Config frame"/>
          <p:cNvSpPr/>
          <p:nvPr/>
        </p:nvSpPr>
        <p:spPr>
          <a:xfrm>
            <a:off x="512064" y="1197864"/>
            <a:ext cx="5592323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Admin Console — Model Config" descr="Admin Console — Model Conf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519171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LLM settings: provider (Groq shown), model, temperature, max completion tokens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API keys come from server environment variables, never from the UI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Option to show transpiled SQL for the active dialect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Database connections: add and test SQLite or PostgreSQL targets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Swap provider or database without code changes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Admin Console — Script Runner</a:t>
            </a:r>
            <a:endParaRPr lang="en-US" sz="2800" dirty="0"/>
          </a:p>
        </p:txBody>
      </p:sp>
      <p:sp>
        <p:nvSpPr>
          <p:cNvPr id="3" name="Admin Console — Script Runner frame"/>
          <p:cNvSpPr/>
          <p:nvPr/>
        </p:nvSpPr>
        <p:spPr>
          <a:xfrm>
            <a:off x="512064" y="1197864"/>
            <a:ext cx="4309129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Admin Console — Script Runner" descr="Admin Console — Script Run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235977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Lists repo scripts grouped by purpose: Database, Evaluation, Validation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Compatibility badges flag scripts that are demo-domain specific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One-click Run per script; only allow-listed commands execute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Maintenance and validation without leaving the UI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 — Voice Input &amp; Query Explanation</a:t>
            </a:r>
            <a:endParaRPr lang="en-US" sz="2800" dirty="0"/>
          </a:p>
        </p:txBody>
      </p:sp>
      <p:sp>
        <p:nvSpPr>
          <p:cNvPr id="3" name="Before You Start — Voice Input &amp; Query Explanation frame"/>
          <p:cNvSpPr/>
          <p:nvPr/>
        </p:nvSpPr>
        <p:spPr>
          <a:xfrm>
            <a:off x="512064" y="1197864"/>
            <a:ext cx="5072408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Before You Start — Voice Input &amp; Query Explanation" descr="Before You Start — Voice Input &amp; Query Explan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999256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HIGHLIGHTED IN THE SCREENSHOT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  Voice input: click Voice and speak the prompt instead of typing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  Query explanation mode: tick “Include SQL explanation in response”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  Result: “SQL explanation &amp; stats” shows the generated SQL, row count, latency and a plain-English description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Speak the prompt, and show the SQL and explanation behind every answer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 Step 1 — Query Chat (Aggregate)</a:t>
            </a:r>
            <a:endParaRPr lang="en-US" sz="2800" dirty="0"/>
          </a:p>
        </p:txBody>
      </p:sp>
      <p:sp>
        <p:nvSpPr>
          <p:cNvPr id="3" name="Demo Step 1 — Query Chat (Aggregate) frame"/>
          <p:cNvSpPr/>
          <p:nvPr/>
        </p:nvSpPr>
        <p:spPr>
          <a:xfrm>
            <a:off x="512064" y="1197864"/>
            <a:ext cx="5658278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Demo Step 1 — Query Chat (Aggregate)" descr="Demo Step 1 — Query Chat (Aggregat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585126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PROMPT USED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“What are the top 10 products by gross revenue?”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Auto chart preview: bars ranked by gross revenue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Result table below with product name and revenue (in cents)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“SQL explanation &amp; stats” drawer shows the generated SQL, latency and row count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Exactly 10 rows returned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Question → SQL → chart + table in one 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 Step 2 — Query Chat (Temporal)</a:t>
            </a:r>
            <a:endParaRPr lang="en-US" sz="2800" dirty="0"/>
          </a:p>
        </p:txBody>
      </p:sp>
      <p:sp>
        <p:nvSpPr>
          <p:cNvPr id="3" name="Demo Step 2 — Query Chat (Temporal) frame"/>
          <p:cNvSpPr/>
          <p:nvPr/>
        </p:nvSpPr>
        <p:spPr>
          <a:xfrm>
            <a:off x="512064" y="1197864"/>
            <a:ext cx="3690434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Demo Step 2 — Query Chat (Temporal)" descr="Demo Step 2 — Query Chat (Tempor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617282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PROMPT USED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“What is the total revenue for each month?”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row per month, ordered chronologically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Chart and table show the monthly revenue trend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Temporal grouping is done on the order date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Optionally show the transpiled SQL (set in Model Config)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Handles time-based grouping and ordering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 Step 3 — Query Chat (Join)</a:t>
            </a:r>
            <a:endParaRPr lang="en-US" sz="2800" dirty="0"/>
          </a:p>
        </p:txBody>
      </p:sp>
      <p:sp>
        <p:nvSpPr>
          <p:cNvPr id="3" name="Demo Step 3 — Query Chat (Join) frame"/>
          <p:cNvSpPr/>
          <p:nvPr/>
        </p:nvSpPr>
        <p:spPr>
          <a:xfrm>
            <a:off x="512064" y="1197864"/>
            <a:ext cx="6517946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Demo Step 3 — Query Chat (Join)" descr="Demo Step 3 — Query Chat (Joi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444794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PROMPT USED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“List products with their category names.”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Joins products to categories to return product_name and category_name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Returned 100 rows across 2 columns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Count matches the 100-row cap set in Guardrails Config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Multi-table joins, with the row limit enforced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 Step 4 — Filter / Segmentation</a:t>
            </a:r>
            <a:endParaRPr lang="en-US" sz="2800" dirty="0"/>
          </a:p>
        </p:txBody>
      </p:sp>
      <p:sp>
        <p:nvSpPr>
          <p:cNvPr id="3" name="Demo Step 4 — Filter / Segmentation frame"/>
          <p:cNvSpPr/>
          <p:nvPr/>
        </p:nvSpPr>
        <p:spPr>
          <a:xfrm>
            <a:off x="512064" y="1197864"/>
            <a:ext cx="7442890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Demo Step 4 — Filter / Segmentation" descr="Demo Step 4 — Filter / Segm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369738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PROMPT USED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“How many customers are there in each country?”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Groups customers by country: 4 rows (US, GB, CA, AU)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Bar preview plus a compact table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Shows segmentation / counting by a category column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Segmentation answers in a single question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 Step 5 — Operational Metric</a:t>
            </a:r>
            <a:endParaRPr lang="en-US" sz="2800" dirty="0"/>
          </a:p>
        </p:txBody>
      </p:sp>
      <p:sp>
        <p:nvSpPr>
          <p:cNvPr id="3" name="Demo Step 5 — Operational Metric frame"/>
          <p:cNvSpPr/>
          <p:nvPr/>
        </p:nvSpPr>
        <p:spPr>
          <a:xfrm>
            <a:off x="512064" y="1197864"/>
            <a:ext cx="6969462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Demo Step 5 — Operational Metric" descr="Demo Step 5 — Operational Metr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896310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PROMPT USED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“How many orders are there for each status?”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Order counts per status: shipped, delivered, paid, processing, refunded, cancelled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Bars show the mix at a glance; shipped and delivered dominate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Operational view of the order pipeline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Same chat works for operations metrics, not only revenue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 Step 6 — Guardrail Behavior</a:t>
            </a:r>
            <a:endParaRPr lang="en-US" sz="2800" dirty="0"/>
          </a:p>
        </p:txBody>
      </p:sp>
      <p:sp>
        <p:nvSpPr>
          <p:cNvPr id="3" name="Demo Step 6 — Guardrail Behavior 1 label"/>
          <p:cNvSpPr txBox="1"/>
          <p:nvPr/>
        </p:nvSpPr>
        <p:spPr>
          <a:xfrm>
            <a:off x="548640" y="123444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Unsafe prompt: “Delete all orders from the database”</a:t>
            </a:r>
            <a:endParaRPr lang="en-US" sz="1200" dirty="0"/>
          </a:p>
        </p:txBody>
      </p:sp>
      <p:sp>
        <p:nvSpPr>
          <p:cNvPr id="4" name="Demo Step 6 — Guardrail Behavior 1 frame"/>
          <p:cNvSpPr/>
          <p:nvPr/>
        </p:nvSpPr>
        <p:spPr>
          <a:xfrm>
            <a:off x="512064" y="1508760"/>
            <a:ext cx="4755768" cy="223113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5" name="Demo Step 6 — Guardrail Behavior 1" descr="Demo Step 6 — Guardrail Behavior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5336"/>
            <a:ext cx="4682616" cy="2157984"/>
          </a:xfrm>
          <a:prstGeom prst="rect">
            <a:avLst/>
          </a:prstGeom>
        </p:spPr>
      </p:pic>
      <p:sp>
        <p:nvSpPr>
          <p:cNvPr id="6" name="Demo Step 6 — Guardrail Behavior 2 label"/>
          <p:cNvSpPr txBox="1"/>
          <p:nvPr/>
        </p:nvSpPr>
        <p:spPr>
          <a:xfrm>
            <a:off x="548640" y="384048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Off-topic prompt: “What is the weather in London today?”</a:t>
            </a:r>
            <a:endParaRPr lang="en-US" sz="1200" dirty="0"/>
          </a:p>
        </p:txBody>
      </p:sp>
      <p:sp>
        <p:nvSpPr>
          <p:cNvPr id="7" name="Demo Step 6 — Guardrail Behavior 2 frame"/>
          <p:cNvSpPr/>
          <p:nvPr/>
        </p:nvSpPr>
        <p:spPr>
          <a:xfrm>
            <a:off x="512064" y="4114800"/>
            <a:ext cx="4766767" cy="223113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8" name="Demo Step 6 — Guardrail Behavior 2" descr="Demo Step 6 — Guardrail Behavior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51376"/>
            <a:ext cx="4693615" cy="2157984"/>
          </a:xfrm>
          <a:prstGeom prst="rect">
            <a:avLst/>
          </a:prstGeom>
        </p:spPr>
      </p:pic>
      <p:sp>
        <p:nvSpPr>
          <p:cNvPr id="9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HAPPENS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Destructive request is refused before any SQL runs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Out-of-scope question is refused too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Both return “Request could not be completed safely.”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Nothing is executed and the attempt is logged</a:t>
            </a:r>
            <a:endParaRPr lang="en-US" sz="1100" dirty="0"/>
          </a:p>
        </p:txBody>
      </p:sp>
      <p:sp>
        <p:nvSpPr>
          <p:cNvPr id="11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2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Fail-closed: unsafe or off-topic requests never reach the database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 Step 7 — PII Check</a:t>
            </a:r>
            <a:endParaRPr lang="en-US" sz="2800" dirty="0"/>
          </a:p>
        </p:txBody>
      </p:sp>
      <p:sp>
        <p:nvSpPr>
          <p:cNvPr id="3" name="Demo Step 7 — PII Check frame"/>
          <p:cNvSpPr/>
          <p:nvPr/>
        </p:nvSpPr>
        <p:spPr>
          <a:xfrm>
            <a:off x="512064" y="1938776"/>
            <a:ext cx="7616952" cy="366624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Demo Step 7 — PII Check" descr="Demo Step 7 — PII 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75352"/>
            <a:ext cx="7543800" cy="3593097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PROMPT USED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“Give Customer email addresses”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Asks for personal data (customer emails) that the customers table holds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Request is refused: “Request could not be completed safely.”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SQL result and no rows are shown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Related control: Schema Manager can flag columns as Sensitive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Personal data is protected: PII requests are blocked, not answered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 Step 8 — Ambiguity / Clarification Style</a:t>
            </a:r>
            <a:endParaRPr lang="en-US" sz="2800" dirty="0"/>
          </a:p>
        </p:txBody>
      </p:sp>
      <p:sp>
        <p:nvSpPr>
          <p:cNvPr id="3" name="Demo Step 8 — Ambiguity / Clarification Style frame"/>
          <p:cNvSpPr/>
          <p:nvPr/>
        </p:nvSpPr>
        <p:spPr>
          <a:xfrm>
            <a:off x="512064" y="1266916"/>
            <a:ext cx="7616952" cy="50099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Demo Step 8 — Ambiguity / Clarification Style" descr="Demo Step 8 — Ambiguity / Clarification Sty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3492"/>
            <a:ext cx="7543800" cy="4936815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PROMPT USED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“Show status by date”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“status” is ambiguous: could mean orders.status or shipments.status, so the app asks the user to clarify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“Give me amount by order.” returns unrelated fields, so it asks which columns you want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“List id and status.” is clarified the same way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Ambiguity is surfaced, not silently guessed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 Step 9 — Follow-up Context</a:t>
            </a:r>
            <a:endParaRPr lang="en-US" sz="2800" dirty="0"/>
          </a:p>
        </p:txBody>
      </p:sp>
      <p:sp>
        <p:nvSpPr>
          <p:cNvPr id="3" name="Demo Step 9 — Follow-up Context frame"/>
          <p:cNvSpPr/>
          <p:nvPr/>
        </p:nvSpPr>
        <p:spPr>
          <a:xfrm>
            <a:off x="512064" y="1197864"/>
            <a:ext cx="3885985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Demo Step 9 — Follow-up Context" descr="Demo Step 9 — Follow-up Con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812833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PROMPT USED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“Give me the top 10 categories → then: Give me the product name of first category”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First question returns 10 categories with a bar preview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Second question refers to “first category” without naming 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chat keeps conversation memory and resolves the reference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Conversation memory enables natural follow-ups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 Step 10 — Script Runner</a:t>
            </a:r>
            <a:endParaRPr lang="en-US" sz="2800" dirty="0"/>
          </a:p>
        </p:txBody>
      </p:sp>
      <p:sp>
        <p:nvSpPr>
          <p:cNvPr id="3" name="Demo Step 10 — Script Runner 1 label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New DB Migration Checklist</a:t>
            </a:r>
            <a:endParaRPr lang="en-US" sz="1200" dirty="0"/>
          </a:p>
        </p:txBody>
      </p:sp>
      <p:sp>
        <p:nvSpPr>
          <p:cNvPr id="4" name="Demo Step 10 — Script Runner 1 frame"/>
          <p:cNvSpPr/>
          <p:nvPr/>
        </p:nvSpPr>
        <p:spPr>
          <a:xfrm>
            <a:off x="512064" y="2642500"/>
            <a:ext cx="3730752" cy="256969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5" name="Demo Step 10 — Script Runner 1" descr="Demo Step 10 — Script Runner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79076"/>
            <a:ext cx="3657600" cy="2496544"/>
          </a:xfrm>
          <a:prstGeom prst="rect">
            <a:avLst/>
          </a:prstGeom>
        </p:spPr>
      </p:pic>
      <p:sp>
        <p:nvSpPr>
          <p:cNvPr id="6" name="Demo Step 10 — Script Runner 2 label"/>
          <p:cNvSpPr txBox="1"/>
          <p:nvPr/>
        </p:nvSpPr>
        <p:spPr>
          <a:xfrm>
            <a:off x="44348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New DB Setup Flow: run a step</a:t>
            </a:r>
            <a:endParaRPr lang="en-US" sz="1200" dirty="0"/>
          </a:p>
        </p:txBody>
      </p:sp>
      <p:sp>
        <p:nvSpPr>
          <p:cNvPr id="7" name="Demo Step 10 — Script Runner 2 frame"/>
          <p:cNvSpPr/>
          <p:nvPr/>
        </p:nvSpPr>
        <p:spPr>
          <a:xfrm>
            <a:off x="4398264" y="2405446"/>
            <a:ext cx="3730752" cy="304380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8" name="Demo Step 10 — Script Runner 2" descr="Demo Step 10 — Script Runner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442022"/>
            <a:ext cx="3657600" cy="2970653"/>
          </a:xfrm>
          <a:prstGeom prst="rect">
            <a:avLst/>
          </a:prstGeom>
        </p:spPr>
      </p:pic>
      <p:sp>
        <p:nvSpPr>
          <p:cNvPr id="9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YOU ARE SEEING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Checklist for moving QueryMind to a new database: seed, regenerate examples and evaluation dataset, adapt validators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Setup Flow lists steps with a “Run this step” button each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“Show input / output” reveals stdout and stderr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Compatibility badges mark demo-only scripts</a:t>
            </a:r>
            <a:endParaRPr lang="en-US" sz="1100" dirty="0"/>
          </a:p>
        </p:txBody>
      </p:sp>
      <p:sp>
        <p:nvSpPr>
          <p:cNvPr id="11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2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Guided, repeatable setup for a new database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Evaluation Framework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3544824" cy="3566160"/>
          </a:xfrm>
          <a:prstGeom prst="roundRect">
            <a:avLst>
              <a:gd name="adj" fmla="val 3095"/>
            </a:avLst>
          </a:prstGeom>
          <a:solidFill>
            <a:schemeClr val="bg2"/>
          </a:solidFill>
          <a:ln/>
        </p:spPr>
      </p:sp>
      <p:sp>
        <p:nvSpPr>
          <p:cNvPr id="4" name="Card number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ard text 1"/>
          <p:cNvSpPr txBox="1"/>
          <p:nvPr/>
        </p:nvSpPr>
        <p:spPr>
          <a:xfrm>
            <a:off x="1417320" y="1554480"/>
            <a:ext cx="2493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Dataset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30 labeled cases (25 answer + refusal / clarify)</a:t>
            </a:r>
            <a:endParaRPr lang="en-US" sz="2000" dirty="0"/>
          </a:p>
        </p:txBody>
      </p:sp>
      <p:sp>
        <p:nvSpPr>
          <p:cNvPr id="7" name="Card 2"/>
          <p:cNvSpPr/>
          <p:nvPr/>
        </p:nvSpPr>
        <p:spPr>
          <a:xfrm>
            <a:off x="4322064" y="1371600"/>
            <a:ext cx="3544824" cy="3566160"/>
          </a:xfrm>
          <a:prstGeom prst="roundRect">
            <a:avLst>
              <a:gd name="adj" fmla="val 3095"/>
            </a:avLst>
          </a:prstGeom>
          <a:solidFill>
            <a:schemeClr val="bg2"/>
          </a:solidFill>
          <a:ln/>
        </p:spPr>
      </p:sp>
      <p:sp>
        <p:nvSpPr>
          <p:cNvPr id="8" name="Card number 2"/>
          <p:cNvSpPr/>
          <p:nvPr/>
        </p:nvSpPr>
        <p:spPr>
          <a:xfrm>
            <a:off x="4550664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066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Card text 2"/>
          <p:cNvSpPr txBox="1"/>
          <p:nvPr/>
        </p:nvSpPr>
        <p:spPr>
          <a:xfrm>
            <a:off x="5190744" y="1554480"/>
            <a:ext cx="2493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Modes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Offline deterministic and live LLM</a:t>
            </a:r>
            <a:endParaRPr lang="en-US" sz="2000" dirty="0"/>
          </a:p>
        </p:txBody>
      </p:sp>
      <p:sp>
        <p:nvSpPr>
          <p:cNvPr id="11" name="Card 3"/>
          <p:cNvSpPr/>
          <p:nvPr/>
        </p:nvSpPr>
        <p:spPr>
          <a:xfrm>
            <a:off x="8095488" y="1371600"/>
            <a:ext cx="3544824" cy="3566160"/>
          </a:xfrm>
          <a:prstGeom prst="roundRect">
            <a:avLst>
              <a:gd name="adj" fmla="val 3095"/>
            </a:avLst>
          </a:prstGeom>
          <a:solidFill>
            <a:schemeClr val="bg2"/>
          </a:solidFill>
          <a:ln/>
        </p:spPr>
      </p:sp>
      <p:sp>
        <p:nvSpPr>
          <p:cNvPr id="12" name="Card number 3"/>
          <p:cNvSpPr/>
          <p:nvPr/>
        </p:nvSpPr>
        <p:spPr>
          <a:xfrm>
            <a:off x="832408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408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Card text 3"/>
          <p:cNvSpPr txBox="1"/>
          <p:nvPr/>
        </p:nvSpPr>
        <p:spPr>
          <a:xfrm>
            <a:off x="8964168" y="1554480"/>
            <a:ext cx="2493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Metrics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Execution accuracy, exact match, pass rate</a:t>
            </a:r>
            <a:endParaRPr lang="en-US" sz="2000" dirty="0"/>
          </a:p>
        </p:txBody>
      </p:sp>
      <p:sp>
        <p:nvSpPr>
          <p:cNvPr id="15" name="Highlight banner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6" name="Highlight text"/>
          <p:cNvSpPr txBox="1"/>
          <p:nvPr/>
        </p:nvSpPr>
        <p:spPr>
          <a:xfrm>
            <a:off x="777240" y="53949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Evidence-driven quality, not only manual demo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Latest Offline Results</a:t>
            </a:r>
            <a:endParaRPr lang="en-US" sz="2800" dirty="0"/>
          </a:p>
        </p:txBody>
      </p:sp>
      <p:sp>
        <p:nvSpPr>
          <p:cNvPr id="3" name="Latest Offline Results frame"/>
          <p:cNvSpPr/>
          <p:nvPr/>
        </p:nvSpPr>
        <p:spPr>
          <a:xfrm>
            <a:off x="512064" y="1766452"/>
            <a:ext cx="7616952" cy="40108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Latest Offline Results" descr="Latest Offline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3028"/>
            <a:ext cx="7543800" cy="3937745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report_offline.md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Total 30 cases: 29 passed, 1 failed (96.7% pass rate)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Execution accuracy 96.0%, exact match 96.0%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SELECT_TEMPORAL and SELECT_SIMPLE cases pass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Single failure: total-refunds-eval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Deterministic mode validates the pipeline end to end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Latest Live Results</a:t>
            </a:r>
            <a:endParaRPr lang="en-US" sz="2800" dirty="0"/>
          </a:p>
        </p:txBody>
      </p:sp>
      <p:sp>
        <p:nvSpPr>
          <p:cNvPr id="3" name="Latest Live Results frame"/>
          <p:cNvSpPr/>
          <p:nvPr/>
        </p:nvSpPr>
        <p:spPr>
          <a:xfrm>
            <a:off x="512064" y="1197864"/>
            <a:ext cx="7556352" cy="5148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4" name="Latest Live Results" descr="Latest Live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83200" cy="5074920"/>
          </a:xfrm>
          <a:prstGeom prst="rect">
            <a:avLst/>
          </a:prstGeom>
        </p:spPr>
      </p:pic>
      <p:sp>
        <p:nvSpPr>
          <p:cNvPr id="5" name="Explanation card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Explanation text"/>
          <p:cNvSpPr txBox="1"/>
          <p:nvPr/>
        </p:nvSpPr>
        <p:spPr>
          <a:xfrm>
            <a:off x="8549640" y="1399032"/>
            <a:ext cx="2926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report_live.md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Total 30 cases: 23 passed, 7 failed (76.7% pass rate)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Execution accuracy 72.0%, exact match 40.0%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Weakest on joins (50.0%) and simple queries (50.0%); temporal 85.7%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Failed cases listed with the check that failed</a:t>
            </a:r>
            <a:endParaRPr lang="en-US" sz="1100" dirty="0"/>
          </a:p>
        </p:txBody>
      </p:sp>
      <p:sp>
        <p:nvSpPr>
          <p:cNvPr id="7" name="Key point box"/>
          <p:cNvSpPr/>
          <p:nvPr/>
        </p:nvSpPr>
        <p:spPr>
          <a:xfrm>
            <a:off x="8503920" y="52578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Key point text"/>
          <p:cNvSpPr txBox="1"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KEY POINT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Live LLM is lower than offline: the real quality gap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Known Limitations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3544824" cy="3566160"/>
          </a:xfrm>
          <a:prstGeom prst="roundRect">
            <a:avLst>
              <a:gd name="adj" fmla="val 3095"/>
            </a:avLst>
          </a:prstGeom>
          <a:solidFill>
            <a:schemeClr val="bg2"/>
          </a:solidFill>
          <a:ln/>
        </p:spPr>
      </p:sp>
      <p:sp>
        <p:nvSpPr>
          <p:cNvPr id="4" name="Card number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ard text 1"/>
          <p:cNvSpPr txBox="1"/>
          <p:nvPr/>
        </p:nvSpPr>
        <p:spPr>
          <a:xfrm>
            <a:off x="1417320" y="1554480"/>
            <a:ext cx="2493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Production hardening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Enterprise auth and secret ops still pending</a:t>
            </a:r>
            <a:endParaRPr lang="en-US" sz="2000" dirty="0"/>
          </a:p>
        </p:txBody>
      </p:sp>
      <p:sp>
        <p:nvSpPr>
          <p:cNvPr id="7" name="Card 2"/>
          <p:cNvSpPr/>
          <p:nvPr/>
        </p:nvSpPr>
        <p:spPr>
          <a:xfrm>
            <a:off x="4322064" y="1371600"/>
            <a:ext cx="3544824" cy="3566160"/>
          </a:xfrm>
          <a:prstGeom prst="roundRect">
            <a:avLst>
              <a:gd name="adj" fmla="val 3095"/>
            </a:avLst>
          </a:prstGeom>
          <a:solidFill>
            <a:schemeClr val="bg2"/>
          </a:solidFill>
          <a:ln/>
        </p:spPr>
      </p:sp>
      <p:sp>
        <p:nvSpPr>
          <p:cNvPr id="8" name="Card number 2"/>
          <p:cNvSpPr/>
          <p:nvPr/>
        </p:nvSpPr>
        <p:spPr>
          <a:xfrm>
            <a:off x="4550664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066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Card text 2"/>
          <p:cNvSpPr txBox="1"/>
          <p:nvPr/>
        </p:nvSpPr>
        <p:spPr>
          <a:xfrm>
            <a:off x="5190744" y="1554480"/>
            <a:ext cx="2493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Demo-domain specifics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Some scripts and data are specific to the demo domain</a:t>
            </a:r>
            <a:endParaRPr lang="en-US" sz="2000" dirty="0"/>
          </a:p>
        </p:txBody>
      </p:sp>
      <p:sp>
        <p:nvSpPr>
          <p:cNvPr id="11" name="Card 3"/>
          <p:cNvSpPr/>
          <p:nvPr/>
        </p:nvSpPr>
        <p:spPr>
          <a:xfrm>
            <a:off x="8095488" y="1371600"/>
            <a:ext cx="3544824" cy="3566160"/>
          </a:xfrm>
          <a:prstGeom prst="roundRect">
            <a:avLst>
              <a:gd name="adj" fmla="val 3095"/>
            </a:avLst>
          </a:prstGeom>
          <a:solidFill>
            <a:schemeClr val="bg2"/>
          </a:solidFill>
          <a:ln/>
        </p:spPr>
      </p:sp>
      <p:sp>
        <p:nvSpPr>
          <p:cNvPr id="12" name="Card number 3"/>
          <p:cNvSpPr/>
          <p:nvPr/>
        </p:nvSpPr>
        <p:spPr>
          <a:xfrm>
            <a:off x="832408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408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Card text 3"/>
          <p:cNvSpPr txBox="1"/>
          <p:nvPr/>
        </p:nvSpPr>
        <p:spPr>
          <a:xfrm>
            <a:off x="8964168" y="1554480"/>
            <a:ext cx="2493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UI test coverage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Automated UI testing can be expanded</a:t>
            </a:r>
            <a:endParaRPr lang="en-US" sz="2000" dirty="0"/>
          </a:p>
        </p:txBody>
      </p:sp>
      <p:sp>
        <p:nvSpPr>
          <p:cNvPr id="15" name="Highlight banner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6" name="Highlight text"/>
          <p:cNvSpPr txBox="1"/>
          <p:nvPr/>
        </p:nvSpPr>
        <p:spPr>
          <a:xfrm>
            <a:off x="777240" y="53949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Limitations are documented transparently in README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Submission Checklist Status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5431536" cy="166878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/>
        </p:spPr>
      </p:sp>
      <p:sp>
        <p:nvSpPr>
          <p:cNvPr id="4" name="Card number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ard text 1"/>
          <p:cNvSpPr txBox="1"/>
          <p:nvPr/>
        </p:nvSpPr>
        <p:spPr>
          <a:xfrm>
            <a:off x="1417320" y="1554480"/>
            <a:ext cx="4379976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Code + docs + evaluations prepared</a:t>
            </a:r>
            <a:endParaRPr lang="en-US" sz="2000" dirty="0"/>
          </a:p>
        </p:txBody>
      </p:sp>
      <p:sp>
        <p:nvSpPr>
          <p:cNvPr id="7" name="Card 2"/>
          <p:cNvSpPr/>
          <p:nvPr/>
        </p:nvSpPr>
        <p:spPr>
          <a:xfrm>
            <a:off x="6208776" y="1371600"/>
            <a:ext cx="5431536" cy="166878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/>
        </p:spPr>
      </p:sp>
      <p:sp>
        <p:nvSpPr>
          <p:cNvPr id="8" name="Card number 2"/>
          <p:cNvSpPr/>
          <p:nvPr/>
        </p:nvSpPr>
        <p:spPr>
          <a:xfrm>
            <a:off x="6437376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3737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Card text 2"/>
          <p:cNvSpPr txBox="1"/>
          <p:nvPr/>
        </p:nvSpPr>
        <p:spPr>
          <a:xfrm>
            <a:off x="7077456" y="1554480"/>
            <a:ext cx="4379976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Frontend typecheck/build and backend validators executed</a:t>
            </a:r>
            <a:endParaRPr lang="en-US" sz="2000" dirty="0"/>
          </a:p>
        </p:txBody>
      </p:sp>
      <p:sp>
        <p:nvSpPr>
          <p:cNvPr id="11" name="Card 3"/>
          <p:cNvSpPr/>
          <p:nvPr/>
        </p:nvSpPr>
        <p:spPr>
          <a:xfrm>
            <a:off x="548640" y="3268980"/>
            <a:ext cx="5431536" cy="166878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/>
        </p:spPr>
      </p:sp>
      <p:sp>
        <p:nvSpPr>
          <p:cNvPr id="12" name="Card number 3"/>
          <p:cNvSpPr/>
          <p:nvPr/>
        </p:nvSpPr>
        <p:spPr>
          <a:xfrm>
            <a:off x="777240" y="34975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4975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Card text 3"/>
          <p:cNvSpPr txBox="1"/>
          <p:nvPr/>
        </p:nvSpPr>
        <p:spPr>
          <a:xfrm>
            <a:off x="1417320" y="3451860"/>
            <a:ext cx="4379976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GitHub repository ready for submission</a:t>
            </a:r>
            <a:endParaRPr lang="en-US" sz="2000" dirty="0"/>
          </a:p>
        </p:txBody>
      </p:sp>
      <p:sp>
        <p:nvSpPr>
          <p:cNvPr id="15" name="Card 4"/>
          <p:cNvSpPr/>
          <p:nvPr/>
        </p:nvSpPr>
        <p:spPr>
          <a:xfrm>
            <a:off x="6208776" y="3268980"/>
            <a:ext cx="5431536" cy="166878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/>
        </p:spPr>
      </p:sp>
      <p:sp>
        <p:nvSpPr>
          <p:cNvPr id="16" name="Card number 4"/>
          <p:cNvSpPr/>
          <p:nvPr/>
        </p:nvSpPr>
        <p:spPr>
          <a:xfrm>
            <a:off x="6437376" y="34975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37376" y="34975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Card text 4"/>
          <p:cNvSpPr txBox="1"/>
          <p:nvPr/>
        </p:nvSpPr>
        <p:spPr>
          <a:xfrm>
            <a:off x="7077456" y="3451860"/>
            <a:ext cx="4379976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Demo recording and screenshots to finalize</a:t>
            </a:r>
            <a:endParaRPr lang="en-US" sz="2000" dirty="0"/>
          </a:p>
        </p:txBody>
      </p:sp>
      <p:sp>
        <p:nvSpPr>
          <p:cNvPr id="19" name="Highlight banner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20" name="Highlight text"/>
          <p:cNvSpPr txBox="1"/>
          <p:nvPr/>
        </p:nvSpPr>
        <p:spPr>
          <a:xfrm>
            <a:off x="777240" y="53949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Final action: upload video + submit repo link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Conclusion points"/>
          <p:cNvSpPr txBox="1"/>
          <p:nvPr/>
        </p:nvSpPr>
        <p:spPr>
          <a:xfrm>
            <a:off x="731520" y="237744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End-to-end Text-to-SQL system delivered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Admin-managed, safety-guarded, evaluation-backed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Repository: https://github.com/sandeepkaradegit/QueryMindAI.git</a:t>
            </a:r>
            <a:endParaRPr lang="en-US" sz="2000" dirty="0"/>
          </a:p>
        </p:txBody>
      </p:sp>
      <p:sp>
        <p:nvSpPr>
          <p:cNvPr id="4" name="Closing tile"/>
          <p:cNvSpPr/>
          <p:nvPr/>
        </p:nvSpPr>
        <p:spPr>
          <a:xfrm>
            <a:off x="8138160" y="1828800"/>
            <a:ext cx="3383280" cy="2011680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66760" y="18288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Ready for reviewer walkthrough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eryMind">
  <a:themeElements>
    <a:clrScheme name="QueryMind">
      <a:dk1>
        <a:srgbClr val="1F293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EA5E9"/>
      </a:accent5>
      <a:accent6>
        <a:srgbClr val="8B5CF6"/>
      </a:accent6>
      <a:hlink>
        <a:srgbClr val="4F46E5"/>
      </a:hlink>
      <a:folHlink>
        <a:srgbClr val="8B5CF6"/>
      </a:folHlink>
    </a:clrScheme>
    <a:fontScheme name="QueryMi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QueryMind AI - Capstone Submission Demo (combined)</dc:title>
  <dc:subject>PptxGenJS Presentation</dc:subject>
  <dc:creator>Sandip Karade</dc:creator>
  <cp:lastModifiedBy>Sandip Karade</cp:lastModifiedBy>
  <cp:revision>1</cp:revision>
  <dcterms:created xsi:type="dcterms:W3CDTF">2026-10-21T19:38:55Z</dcterms:created>
  <dcterms:modified xsi:type="dcterms:W3CDTF">2026-10-21T19:38:55Z</dcterms:modified>
</cp:coreProperties>
</file>